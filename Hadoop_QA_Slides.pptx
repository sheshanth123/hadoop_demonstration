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0a2b497-1df2-1e6d-fb94-9bbc085fe108}">
          <p14:sldIdLst>
            <p14:sldId id="256"/>
          </p14:sldIdLst>
        </p14:section>
        <p14:section name="Section 1 · Setup and Context" id="{771ed66f-18dd-a600-bebd-392ed7309f20}">
          <p14:sldIdLst>
            <p14:sldId id="257"/>
            <p14:sldId id="258"/>
            <p14:sldId id="259"/>
            <p14:sldId id="260"/>
          </p14:sldIdLst>
        </p14:section>
        <p14:section name="Section 2 · HDFS" id="{54227f28-e0ca-0625-8bb5-b32f34adf4ff}">
          <p14:sldIdLst>
            <p14:sldId id="261"/>
            <p14:sldId id="262"/>
            <p14:sldId id="263"/>
            <p14:sldId id="264"/>
          </p14:sldIdLst>
        </p14:section>
        <p14:section name="Section 3 · MapReduce" id="{77161e5c-ffde-c4ed-78eb-9f0efd716e90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ection 4 · Conclusion" id="{a40f0ed5-a91c-ce16-5c72-3f8d7e527ff3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slides alongside the live demo. Each question has a cue telling you when to show it. Give learners 30 to 60 seconds to answer out loud before you move to the answer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right after the 5-minute context talk. Let two or three learners answer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scale out, not up. Storage (HDFS) and processing (YARN + MapReduce) are the two halves. Stress that Hadoop is batch oriented.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after confirming the services are healthy. Point at the NameNode UI (9870) and ResourceManager UI (8088) while answering.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NameNode is the librarian, DataNodes are the shelves. ResourceManager is the scheduler, NodeManagers are the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right after the fsck output is on screen. Ask them to do the arithmetic before looking at the output, then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fsck again: 5 block(s), Live_repl=2 on each. The last block is smaller. Follow up: with the default 128 MB block size this file would be a single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stop one DataNode container, run hdfs dfs -cat ... | head, then ask this. Reveal after a short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Heartbeats every few seconds, dead after roughly 10 minutes by default. Replication is a trade-off: more copies means more safety and more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after explaining the model, before launching hadoop jar ... wordcount. Let learners draw it on paper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emits (word, 1) for every word. Shuffle groups and sorts by key, automatically. Reduce adds up each group. Then run the real job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right after listing the output folder, before cat-ing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remind: the output folder must not exist before the job runs, otherwise FileAlreadyExistsException. Hadoop protects earlier results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after scrolling to the counters at the end of the job log. Map output records equals the total number of words in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Cross-check with awk: summing column 2 of part-r-00000 gives 779,481, the same as Map output records. Nothing is lost, only grouped.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in the final 10 minutes. Connect the demo to what learners will use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Hive and Spark SQL let you write SQL that becomes distributed jobs. The commands change, the vocabulary stays.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Good follow-up: ask learners which command or log line they found most surprising.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_W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Hadoop Demonstration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Check-your-understanding questions for HDFS and MapReduce. One question per slide, answer on the next.</a:t>
            </a:r>
            <a:endParaRPr lang="en-US" sz="1600" dirty="0"/>
          </a:p>
        </p:txBody>
      </p:sp>
      <p:sp>
        <p:nvSpPr>
          <p:cNvPr id="4" name="Question motif"/>
          <p:cNvSpPr/>
          <p:nvPr/>
        </p:nvSpPr>
        <p:spPr>
          <a:xfrm>
            <a:off x="6126480" y="123444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1 · Setup and Context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 company collects 2 TB of logs every night. One server cannot store them or process them in time. What does Hadoop offer to solve this?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the context talk, before starting the cluster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Spread the data out and process it where it sits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HDFS splits files into blocks and stores them across many machines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YARN and MapReduce run the work in parallel, next to the data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 for batch jobs on ordinary hardware, not instant answers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1 · Setup and Context</a:t>
            </a:r>
            <a:endParaRPr lang="en-US" sz="1000" dirty="0"/>
          </a:p>
        </p:txBody>
      </p:sp>
      <p:sp>
        <p:nvSpPr>
          <p:cNvPr id="7" name="Visual panel"/>
          <p:cNvSpPr/>
          <p:nvPr/>
        </p:nvSpPr>
        <p:spPr>
          <a:xfrm>
            <a:off x="4846320" y="16002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2011680"/>
            <a:ext cx="13716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 TB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Scale up: one big server hits a ceiling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2103120"/>
            <a:ext cx="411480" cy="5029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2103120"/>
            <a:ext cx="411480" cy="5029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92440" y="2103120"/>
            <a:ext cx="411480" cy="5029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86600" y="2743200"/>
            <a:ext cx="411480" cy="5029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2743200"/>
            <a:ext cx="411480" cy="5029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2743200"/>
            <a:ext cx="411480" cy="50292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Scale out: add ordinary machines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1 · Setup and Context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Before we run anything, which four services must be up on our Hadoop cluster, and what is each one responsible for?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dfsadmin -report and yarn node -list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Two for storage, two for processing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NameNode: keeps the metadata, knows which blocks make up each file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DataNode: stores the actual blocks on disk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ResourceManager: schedules work across the cluster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NodeManager: launches and watches the tasks on each machine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1 · Setup and Context</a:t>
            </a:r>
            <a:endParaRPr lang="en-US" sz="1000" dirty="0"/>
          </a:p>
        </p:txBody>
      </p:sp>
      <p:sp>
        <p:nvSpPr>
          <p:cNvPr id="7" name="Visual panel"/>
          <p:cNvSpPr/>
          <p:nvPr/>
        </p:nvSpPr>
        <p:spPr>
          <a:xfrm>
            <a:off x="4846320" y="16002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1719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HDFS: storage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1993392"/>
            <a:ext cx="347472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NameNode: metadata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2542032"/>
            <a:ext cx="10515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DataNode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2542032"/>
            <a:ext cx="10515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DataNode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2542032"/>
            <a:ext cx="10515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DataNode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YARN: compute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3474720"/>
            <a:ext cx="347472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ResourceManager: scheduler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3977640"/>
            <a:ext cx="347472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NodeManager: runs tasks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2 · HDFS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employees.csv is 19,943,846 bytes. We uploaded it with a 4 MB block size and replication 2. How many blocks, and how many block copies are stored?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hdfs fsck ... -files -blocks -locations   (4 MB = 4,194,304 bytes)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 blocks, 10 block copies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19,943,846 ÷ 4,194,304 = 4.75, so 5 blocks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Four full blocks plus a last one of 3,166,630 bytes (HDFS does not pad it)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 blocks × 2 replicas = 10 copies on the DataNodes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2 · HDFS</a:t>
            </a:r>
            <a:endParaRPr lang="en-US" sz="1000" dirty="0"/>
          </a:p>
        </p:txBody>
      </p:sp>
      <p:sp>
        <p:nvSpPr>
          <p:cNvPr id="7" name="Visual panel"/>
          <p:cNvSpPr/>
          <p:nvPr/>
        </p:nvSpPr>
        <p:spPr>
          <a:xfrm>
            <a:off x="4846320" y="16002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7492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Copy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212140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212140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12140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95160" y="212140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2121408"/>
            <a:ext cx="429768" cy="502920"/>
          </a:xfrm>
          <a:prstGeom prst="roundRect">
            <a:avLst>
              <a:gd name="adj" fmla="val 1702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B5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Copy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321868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15000" y="321868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321868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995160" y="3218688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35240" y="3218688"/>
            <a:ext cx="429768" cy="502920"/>
          </a:xfrm>
          <a:prstGeom prst="roundRect">
            <a:avLst>
              <a:gd name="adj" fmla="val 17021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07492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blocks of 4 MB + 1 block of about 3 MB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2 · HDFS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We stop one of the three DataNodes. Every block has 2 copies. Can we still read the file, and what does the NameNode do next?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the DataNode failure experiment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Yes, the data is safe and the NameNode repairs it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Reads still work: another copy of each block lives on a healthy DataNode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After about 10 minutes of missed heartbeats the NameNode marks the node dead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then re-copies the lost blocks until every block has 2 copies again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2 · HDFS</a:t>
            </a:r>
            <a:endParaRPr lang="en-US" sz="1000" dirty="0"/>
          </a:p>
        </p:txBody>
      </p:sp>
      <p:sp>
        <p:nvSpPr>
          <p:cNvPr id="7" name="Visual panel"/>
          <p:cNvSpPr/>
          <p:nvPr/>
        </p:nvSpPr>
        <p:spPr>
          <a:xfrm>
            <a:off x="4846320" y="16002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78308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NameNode: no heartbeat from DataNode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DN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7220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DN 2 (down)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DN 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50408" y="3474720"/>
            <a:ext cx="22860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0292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Re-copy the missing blocks from the survivors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3 · MapReduce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Trace the line “to be or not to be” through a WordCount job. What happens in the Map, Shuffle and Reduce steps?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the Map, Shuffle, Reduce whiteboard, before running the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Pairs out, grouped by key, then summed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3 · MapReduce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2377440" cy="25146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91640"/>
            <a:ext cx="201168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· Map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(be,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(be, 1)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26080" y="2606040"/>
            <a:ext cx="36576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554480"/>
            <a:ext cx="2377440" cy="25146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1691640"/>
            <a:ext cx="2011680" cy="411480"/>
          </a:xfrm>
          <a:prstGeom prst="roundRect">
            <a:avLst>
              <a:gd name="adj" fmla="val 1777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· Shuffle and sort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28600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→ [1,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→ [1]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→ [1]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→ [1, 1]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606040"/>
            <a:ext cx="36576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554480"/>
            <a:ext cx="2377440" cy="25146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1691640"/>
            <a:ext cx="201168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· Reduce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286000"/>
            <a:ext cx="1920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(be,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(to, 2)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shuffle is automatic: Hadoop groups identical keys and sends each group to one reducer.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3 · MapReduce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The job finished. Our output folder holds _SUCCESS and part-r-00000. What do these two files mean?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hdfs dfs -ls /user/hadoop/output/wordcount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A6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success marker and one result file per reducer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_SUCCESS is an empty marker: the job finished cleanly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part-r-00000 holds the results. “r” means a reducer wrote it, 00000 is the reducer number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Three reducers would give three part-r files. A map-only job writes part-m files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3 · MapReduce</a:t>
            </a:r>
            <a:endParaRPr lang="en-US" sz="1000" dirty="0"/>
          </a:p>
        </p:txBody>
      </p:sp>
      <p:sp>
        <p:nvSpPr>
          <p:cNvPr id="7" name="Terminal panel"/>
          <p:cNvSpPr/>
          <p:nvPr/>
        </p:nvSpPr>
        <p:spPr>
          <a:xfrm>
            <a:off x="4846320" y="160020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74920" y="18288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hdfs dfs -ls .../wordcount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_SUCCESS          0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part-r-00000      word counts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part = a piece of the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 = written by a reducer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00000 = reducer number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3 · MapReduce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The counters show Map output records = 779,481, yet Reduce input records is far smaller. Where did the records go?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reading the job counters in the console 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A7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combiner added counts before the shuffle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 output records = every word emitted by the mappers (779,481)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combiner pre-adds counts on the map side, so far fewer records cross the network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 input groups = 76 distinct words, matching the 76 lines of output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3 · MapReduce</a:t>
            </a:r>
            <a:endParaRPr lang="en-US" sz="1000" dirty="0"/>
          </a:p>
        </p:txBody>
      </p:sp>
      <p:sp>
        <p:nvSpPr>
          <p:cNvPr id="7" name="Visual panel"/>
          <p:cNvSpPr/>
          <p:nvPr/>
        </p:nvSpPr>
        <p:spPr>
          <a:xfrm>
            <a:off x="4846320" y="16002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0" y="1783080"/>
            <a:ext cx="32918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779,481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670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Map output records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0" y="3017520"/>
            <a:ext cx="365760" cy="45720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combiner + shuffle + reduce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3520440"/>
            <a:ext cx="3291840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distinct words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badge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600" dirty="0"/>
          </a:p>
        </p:txBody>
      </p:sp>
      <p:sp>
        <p:nvSpPr>
          <p:cNvPr id="3" name="Section chip"/>
          <p:cNvSpPr/>
          <p:nvPr/>
        </p:nvSpPr>
        <p:spPr>
          <a:xfrm>
            <a:off x="5669280" y="713232"/>
            <a:ext cx="3017520" cy="36576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Section 4 · Conclusion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MapReduce writes to disk between stages. Which modern tool improves on that, and which Hadoop ideas still carry over?</a:t>
            </a:r>
            <a:endParaRPr lang="en-US" sz="2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Ask after: the recap, during the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swer badge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A8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371600" y="274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Spark, cloud storage and SQL carry the same ideas forward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60020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Spark keeps intermediate data in memory instead of writing to disk between stages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Cloud object storage now plays the role of HDFS for many teams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Unchanged ideas: partitions, shuffle, replication, data locality, fault tolerance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Section 4 · Conclusion</a:t>
            </a:r>
            <a:endParaRPr lang="en-US" sz="1000" dirty="0"/>
          </a:p>
        </p:txBody>
      </p:sp>
      <p:sp>
        <p:nvSpPr>
          <p:cNvPr id="7" name="Visual panel"/>
          <p:cNvSpPr/>
          <p:nvPr/>
        </p:nvSpPr>
        <p:spPr>
          <a:xfrm>
            <a:off x="4846320" y="1600200"/>
            <a:ext cx="384048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82880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HDFS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92240" y="1938528"/>
            <a:ext cx="36576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1828800"/>
            <a:ext cx="155448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Cloud object storage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269748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MapReduce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92240" y="2807208"/>
            <a:ext cx="36576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2697480"/>
            <a:ext cx="155448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Spark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356616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Java jobs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92240" y="3675888"/>
            <a:ext cx="36576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3566160"/>
            <a:ext cx="155448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Hive · Spark SQL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 from the room?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HDFS stores it. YARN schedules it. MapReduce processes it.</a:t>
            </a:r>
            <a:endParaRPr lang="en-US" sz="1800" dirty="0"/>
          </a:p>
        </p:txBody>
      </p:sp>
      <p:sp>
        <p:nvSpPr>
          <p:cNvPr id="4" name="Question motif"/>
          <p:cNvSpPr/>
          <p:nvPr/>
        </p:nvSpPr>
        <p:spPr>
          <a:xfrm>
            <a:off x="6126480" y="123444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doop Session">
  <a:themeElements>
    <a:clrScheme name="Hadoop Session">
      <a:dk1>
        <a:srgbClr val="1B2430"/>
      </a:dk1>
      <a:lt1>
        <a:srgbClr val="FFFFFF"/>
      </a:lt1>
      <a:dk2>
        <a:srgbClr val="2B3A4F"/>
      </a:dk2>
      <a:lt2>
        <a:srgbClr val="F1F3F6"/>
      </a:lt2>
      <a:accent1>
        <a:srgbClr val="F2B705"/>
      </a:accent1>
      <a:accent2>
        <a:srgbClr val="1F7A5C"/>
      </a:accent2>
      <a:accent3>
        <a:srgbClr val="2F6DB5"/>
      </a:accent3>
      <a:accent4>
        <a:srgbClr val="C8452B"/>
      </a:accent4>
      <a:accent5>
        <a:srgbClr val="6B7A8F"/>
      </a:accent5>
      <a:accent6>
        <a:srgbClr val="AEB8C4"/>
      </a:accent6>
      <a:hlink>
        <a:srgbClr val="2F6DB5"/>
      </a:hlink>
      <a:folHlink>
        <a:srgbClr val="6B7A8F"/>
      </a:folHlink>
    </a:clrScheme>
    <a:fontScheme name="Hadoop Ses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 Demonstration: Questions and Answers</dc:title>
  <dc:subject>PptxGenJS Presentation</dc:subject>
  <dc:creator>PptxGenJS</dc:creator>
  <cp:lastModifiedBy>PptxGenJS</cp:lastModifiedBy>
  <cp:revision>1</cp:revision>
  <dcterms:created xsi:type="dcterms:W3CDTF">2026-10-17T03:52:11Z</dcterms:created>
  <dcterms:modified xsi:type="dcterms:W3CDTF">2026-10-17T03:52:11Z</dcterms:modified>
</cp:coreProperties>
</file>